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6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5200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2057400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8677656" y="2057400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8988552" y="2057400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9299448" y="2057400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9610344" y="2057400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9921240" y="2057400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10232136" y="2057400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10543032" y="2057400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10853928" y="2057400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8366760" y="2368296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8677656" y="2368296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8988552" y="2368296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9299448" y="2368296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9610344" y="2368296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9921240" y="2368296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10232136" y="2368296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10543032" y="2368296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10853928" y="2368296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8366760" y="2679192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8677656" y="2679192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Shape 20"/>
          <p:cNvSpPr/>
          <p:nvPr/>
        </p:nvSpPr>
        <p:spPr>
          <a:xfrm>
            <a:off x="8988552" y="2679192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Shape 21"/>
          <p:cNvSpPr/>
          <p:nvPr/>
        </p:nvSpPr>
        <p:spPr>
          <a:xfrm>
            <a:off x="9299448" y="2679192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Shape 22"/>
          <p:cNvSpPr/>
          <p:nvPr/>
        </p:nvSpPr>
        <p:spPr>
          <a:xfrm>
            <a:off x="9610344" y="2679192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Shape 23"/>
          <p:cNvSpPr/>
          <p:nvPr/>
        </p:nvSpPr>
        <p:spPr>
          <a:xfrm>
            <a:off x="9921240" y="2679192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Shape 24"/>
          <p:cNvSpPr/>
          <p:nvPr/>
        </p:nvSpPr>
        <p:spPr>
          <a:xfrm>
            <a:off x="10232136" y="2679192"/>
            <a:ext cx="68580" cy="68580"/>
          </a:xfrm>
          <a:prstGeom prst="ellipse">
            <a:avLst/>
          </a:prstGeom>
          <a:solidFill>
            <a:srgbClr val="E39A2E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Shape 25"/>
          <p:cNvSpPr/>
          <p:nvPr/>
        </p:nvSpPr>
        <p:spPr>
          <a:xfrm>
            <a:off x="10543032" y="2679192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Shape 26"/>
          <p:cNvSpPr/>
          <p:nvPr/>
        </p:nvSpPr>
        <p:spPr>
          <a:xfrm>
            <a:off x="10853928" y="2679192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Shape 27"/>
          <p:cNvSpPr/>
          <p:nvPr/>
        </p:nvSpPr>
        <p:spPr>
          <a:xfrm>
            <a:off x="8366760" y="2990088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Shape 28"/>
          <p:cNvSpPr/>
          <p:nvPr/>
        </p:nvSpPr>
        <p:spPr>
          <a:xfrm>
            <a:off x="8677656" y="2990088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Shape 29"/>
          <p:cNvSpPr/>
          <p:nvPr/>
        </p:nvSpPr>
        <p:spPr>
          <a:xfrm>
            <a:off x="8988552" y="2990088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9299448" y="2990088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Shape 31"/>
          <p:cNvSpPr/>
          <p:nvPr/>
        </p:nvSpPr>
        <p:spPr>
          <a:xfrm>
            <a:off x="9610344" y="2990088"/>
            <a:ext cx="68580" cy="685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4" name="Shape 32"/>
          <p:cNvSpPr/>
          <p:nvPr/>
        </p:nvSpPr>
        <p:spPr>
          <a:xfrm>
            <a:off x="9921240" y="2990088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Shape 33"/>
          <p:cNvSpPr/>
          <p:nvPr/>
        </p:nvSpPr>
        <p:spPr>
          <a:xfrm>
            <a:off x="10232136" y="2990088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6" name="Shape 34"/>
          <p:cNvSpPr/>
          <p:nvPr/>
        </p:nvSpPr>
        <p:spPr>
          <a:xfrm>
            <a:off x="10543032" y="2990088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Shape 35"/>
          <p:cNvSpPr/>
          <p:nvPr/>
        </p:nvSpPr>
        <p:spPr>
          <a:xfrm>
            <a:off x="10853928" y="2990088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8" name="Shape 36"/>
          <p:cNvSpPr/>
          <p:nvPr/>
        </p:nvSpPr>
        <p:spPr>
          <a:xfrm>
            <a:off x="8366760" y="3300984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9" name="Shape 37"/>
          <p:cNvSpPr/>
          <p:nvPr/>
        </p:nvSpPr>
        <p:spPr>
          <a:xfrm>
            <a:off x="8677656" y="3300984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Shape 38"/>
          <p:cNvSpPr/>
          <p:nvPr/>
        </p:nvSpPr>
        <p:spPr>
          <a:xfrm>
            <a:off x="8988552" y="3300984"/>
            <a:ext cx="68580" cy="68580"/>
          </a:xfrm>
          <a:prstGeom prst="ellipse">
            <a:avLst/>
          </a:prstGeom>
          <a:solidFill>
            <a:srgbClr val="E39A2E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1" name="Shape 39"/>
          <p:cNvSpPr/>
          <p:nvPr/>
        </p:nvSpPr>
        <p:spPr>
          <a:xfrm>
            <a:off x="9299448" y="3300984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2" name="Shape 40"/>
          <p:cNvSpPr/>
          <p:nvPr/>
        </p:nvSpPr>
        <p:spPr>
          <a:xfrm>
            <a:off x="9610344" y="3300984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3" name="Shape 41"/>
          <p:cNvSpPr/>
          <p:nvPr/>
        </p:nvSpPr>
        <p:spPr>
          <a:xfrm>
            <a:off x="9921240" y="3300984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4" name="Shape 42"/>
          <p:cNvSpPr/>
          <p:nvPr/>
        </p:nvSpPr>
        <p:spPr>
          <a:xfrm>
            <a:off x="10232136" y="3300984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5" name="Shape 43"/>
          <p:cNvSpPr/>
          <p:nvPr/>
        </p:nvSpPr>
        <p:spPr>
          <a:xfrm>
            <a:off x="10543032" y="3300984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6" name="Shape 44"/>
          <p:cNvSpPr/>
          <p:nvPr/>
        </p:nvSpPr>
        <p:spPr>
          <a:xfrm>
            <a:off x="10853928" y="3300984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7" name="Shape 45"/>
          <p:cNvSpPr/>
          <p:nvPr/>
        </p:nvSpPr>
        <p:spPr>
          <a:xfrm>
            <a:off x="8366760" y="3611880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8" name="Shape 46"/>
          <p:cNvSpPr/>
          <p:nvPr/>
        </p:nvSpPr>
        <p:spPr>
          <a:xfrm>
            <a:off x="8677656" y="3611880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9" name="Shape 47"/>
          <p:cNvSpPr/>
          <p:nvPr/>
        </p:nvSpPr>
        <p:spPr>
          <a:xfrm>
            <a:off x="8988552" y="3611880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" name="Shape 48"/>
          <p:cNvSpPr/>
          <p:nvPr/>
        </p:nvSpPr>
        <p:spPr>
          <a:xfrm>
            <a:off x="9299448" y="3611880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1" name="Shape 49"/>
          <p:cNvSpPr/>
          <p:nvPr/>
        </p:nvSpPr>
        <p:spPr>
          <a:xfrm>
            <a:off x="9610344" y="3611880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2" name="Shape 50"/>
          <p:cNvSpPr/>
          <p:nvPr/>
        </p:nvSpPr>
        <p:spPr>
          <a:xfrm>
            <a:off x="9921240" y="3611880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3" name="Shape 51"/>
          <p:cNvSpPr/>
          <p:nvPr/>
        </p:nvSpPr>
        <p:spPr>
          <a:xfrm>
            <a:off x="10232136" y="3611880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4" name="Shape 52"/>
          <p:cNvSpPr/>
          <p:nvPr/>
        </p:nvSpPr>
        <p:spPr>
          <a:xfrm>
            <a:off x="10543032" y="3611880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5" name="Shape 53"/>
          <p:cNvSpPr/>
          <p:nvPr/>
        </p:nvSpPr>
        <p:spPr>
          <a:xfrm>
            <a:off x="10853928" y="3611880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6" name="Shape 54"/>
          <p:cNvSpPr/>
          <p:nvPr/>
        </p:nvSpPr>
        <p:spPr>
          <a:xfrm>
            <a:off x="8366760" y="3922776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7" name="Shape 55"/>
          <p:cNvSpPr/>
          <p:nvPr/>
        </p:nvSpPr>
        <p:spPr>
          <a:xfrm>
            <a:off x="8677656" y="3922776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8" name="Shape 56"/>
          <p:cNvSpPr/>
          <p:nvPr/>
        </p:nvSpPr>
        <p:spPr>
          <a:xfrm>
            <a:off x="8988552" y="3922776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9" name="Shape 57"/>
          <p:cNvSpPr/>
          <p:nvPr/>
        </p:nvSpPr>
        <p:spPr>
          <a:xfrm>
            <a:off x="9299448" y="3922776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0" name="Shape 58"/>
          <p:cNvSpPr/>
          <p:nvPr/>
        </p:nvSpPr>
        <p:spPr>
          <a:xfrm>
            <a:off x="9610344" y="3922776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1" name="Shape 59"/>
          <p:cNvSpPr/>
          <p:nvPr/>
        </p:nvSpPr>
        <p:spPr>
          <a:xfrm>
            <a:off x="9921240" y="3922776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2" name="Shape 60"/>
          <p:cNvSpPr/>
          <p:nvPr/>
        </p:nvSpPr>
        <p:spPr>
          <a:xfrm>
            <a:off x="10232136" y="3922776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3" name="Shape 61"/>
          <p:cNvSpPr/>
          <p:nvPr/>
        </p:nvSpPr>
        <p:spPr>
          <a:xfrm>
            <a:off x="10543032" y="3922776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4" name="Shape 62"/>
          <p:cNvSpPr/>
          <p:nvPr/>
        </p:nvSpPr>
        <p:spPr>
          <a:xfrm>
            <a:off x="10853928" y="3922776"/>
            <a:ext cx="68580" cy="68580"/>
          </a:xfrm>
          <a:prstGeom prst="ellipse">
            <a:avLst/>
          </a:prstGeom>
          <a:solidFill>
            <a:srgbClr val="27394B"/>
          </a:solidFill>
          <a:ln w="12700">
            <a:solidFill>
              <a:srgbClr val="2739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5" name="Shape 63"/>
          <p:cNvSpPr/>
          <p:nvPr/>
        </p:nvSpPr>
        <p:spPr>
          <a:xfrm>
            <a:off x="10131552" y="25786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39A2E">
              <a:alpha val="18000"/>
            </a:srgbClr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6" name="Shape 64"/>
          <p:cNvSpPr/>
          <p:nvPr/>
        </p:nvSpPr>
        <p:spPr>
          <a:xfrm>
            <a:off x="8887968" y="320040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7C86">
              <a:alpha val="18000"/>
            </a:srgbClr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7" name="Shape 65"/>
          <p:cNvSpPr/>
          <p:nvPr/>
        </p:nvSpPr>
        <p:spPr>
          <a:xfrm>
            <a:off x="640080" y="1207008"/>
            <a:ext cx="713232" cy="310896"/>
          </a:xfrm>
          <a:prstGeom prst="roundRect">
            <a:avLst>
              <a:gd name="adj" fmla="val 20588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8" name="Text 66"/>
          <p:cNvSpPr txBox="1"/>
          <p:nvPr/>
        </p:nvSpPr>
        <p:spPr>
          <a:xfrm>
            <a:off x="640080" y="120700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P54</a:t>
            </a:r>
            <a:endParaRPr lang="en-US" sz="1300" dirty="0"/>
          </a:p>
        </p:txBody>
      </p:sp>
      <p:sp>
        <p:nvSpPr>
          <p:cNvPr id="69" name="Text 67"/>
          <p:cNvSpPr txBox="1"/>
          <p:nvPr/>
        </p:nvSpPr>
        <p:spPr>
          <a:xfrm>
            <a:off x="640080" y="1783080"/>
            <a:ext cx="7406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800"/>
              </a:lnSpc>
              <a:buNone/>
            </a:pPr>
            <a:r>
              <a:rPr lang="en-US" sz="4200" b="1" kern="0" spc="-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LLM for</a:t>
            </a:r>
            <a:endParaRPr lang="en-US" sz="42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200" b="1" kern="0" spc="-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Task Planning</a:t>
            </a:r>
            <a:endParaRPr lang="en-US" sz="4200" dirty="0"/>
          </a:p>
        </p:txBody>
      </p:sp>
      <p:sp>
        <p:nvSpPr>
          <p:cNvPr id="70" name="Text 68"/>
          <p:cNvSpPr txBox="1"/>
          <p:nvPr/>
        </p:nvSpPr>
        <p:spPr>
          <a:xfrm>
            <a:off x="640080" y="370332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Project Progress — Sprint 1 to Sprint 5</a:t>
            </a:r>
            <a:endParaRPr lang="en-US" sz="1700" dirty="0"/>
          </a:p>
        </p:txBody>
      </p:sp>
      <p:sp>
        <p:nvSpPr>
          <p:cNvPr id="71" name="Text 69"/>
          <p:cNvSpPr txBox="1"/>
          <p:nvPr/>
        </p:nvSpPr>
        <p:spPr>
          <a:xfrm>
            <a:off x="640080" y="406908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C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Technology Project B</a:t>
            </a:r>
            <a:endParaRPr lang="en-US" sz="1350" dirty="0"/>
          </a:p>
        </p:txBody>
      </p:sp>
      <p:sp>
        <p:nvSpPr>
          <p:cNvPr id="72" name="Shape 70"/>
          <p:cNvSpPr/>
          <p:nvPr/>
        </p:nvSpPr>
        <p:spPr>
          <a:xfrm>
            <a:off x="640080" y="5138928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3" name="Text 71"/>
          <p:cNvSpPr txBox="1"/>
          <p:nvPr/>
        </p:nvSpPr>
        <p:spPr>
          <a:xfrm>
            <a:off x="932688" y="5065776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7D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· Lakshit · Ved · Dinith · Kaveesha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kern="0" spc="-40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813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9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system that can understand a natural-language robot task, observe the workspace, create an action plan and execute it.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989320" y="1371600"/>
            <a:ext cx="5562295" cy="3383280"/>
          </a:xfrm>
          <a:prstGeom prst="roundRect">
            <a:avLst>
              <a:gd name="adj" fmla="val 2703"/>
            </a:avLst>
          </a:prstGeom>
          <a:solidFill>
            <a:srgbClr val="F1F5F8"/>
          </a:solidFill>
          <a:ln w="12700">
            <a:solidFill>
              <a:srgbClr val="DDE4E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6355080" y="1664208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6355080" y="1664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903720" y="1609344"/>
            <a:ext cx="4236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converts user instructions into structured commands.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55080" y="2459736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 txBox="1"/>
          <p:nvPr/>
        </p:nvSpPr>
        <p:spPr>
          <a:xfrm>
            <a:off x="6355080" y="2459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2404872"/>
            <a:ext cx="4236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identifies objects in the workspace.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355080" y="3255264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 txBox="1"/>
          <p:nvPr/>
        </p:nvSpPr>
        <p:spPr>
          <a:xfrm>
            <a:off x="6355080" y="3255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3200400"/>
            <a:ext cx="4236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planner converts the instruction into robot actions.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355080" y="4050792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 txBox="1"/>
          <p:nvPr/>
        </p:nvSpPr>
        <p:spPr>
          <a:xfrm>
            <a:off x="6355080" y="4050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3995928"/>
            <a:ext cx="4236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executor sends those actions to the simulation robot.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01472" y="5440680"/>
            <a:ext cx="2331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DDE4EA"/>
            </a:solidFill>
            <a:prstDash val="solid"/>
          </a:ln>
          <a:effectLst>
            <a:outerShdw blurRad="101600" dist="25400" dir="5400000" algn="bl" rotWithShape="0">
              <a:srgbClr val="0F1C2A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 txBox="1"/>
          <p:nvPr/>
        </p:nvSpPr>
        <p:spPr>
          <a:xfrm>
            <a:off x="801472" y="544068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133192" y="5440680"/>
            <a:ext cx="420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3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553816" y="5440680"/>
            <a:ext cx="2331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DDE4EA"/>
            </a:solidFill>
            <a:prstDash val="solid"/>
          </a:ln>
          <a:effectLst>
            <a:outerShdw blurRad="101600" dist="25400" dir="5400000" algn="bl" rotWithShape="0">
              <a:srgbClr val="0F1C2A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 txBox="1"/>
          <p:nvPr/>
        </p:nvSpPr>
        <p:spPr>
          <a:xfrm>
            <a:off x="3553816" y="544068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885536" y="5440680"/>
            <a:ext cx="420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3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06160" y="5440680"/>
            <a:ext cx="2331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DDE4EA"/>
            </a:solidFill>
            <a:prstDash val="solid"/>
          </a:ln>
          <a:effectLst>
            <a:outerShdw blurRad="101600" dist="25400" dir="5400000" algn="bl" rotWithShape="0">
              <a:srgbClr val="0F1C2A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 txBox="1"/>
          <p:nvPr/>
        </p:nvSpPr>
        <p:spPr>
          <a:xfrm>
            <a:off x="6306160" y="544068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637880" y="5440680"/>
            <a:ext cx="420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3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058504" y="5440680"/>
            <a:ext cx="2331720" cy="566928"/>
          </a:xfrm>
          <a:prstGeom prst="roundRect">
            <a:avLst>
              <a:gd name="adj" fmla="val 16129"/>
            </a:avLst>
          </a:prstGeom>
          <a:solidFill>
            <a:srgbClr val="0F1C2A"/>
          </a:solidFill>
          <a:ln w="15875">
            <a:solidFill>
              <a:srgbClr val="0F1C2A"/>
            </a:solidFill>
            <a:prstDash val="solid"/>
          </a:ln>
          <a:effectLst>
            <a:outerShdw blurRad="101600" dist="25400" dir="5400000" algn="bl" rotWithShape="0">
              <a:srgbClr val="0F1C2A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" name="Text 26"/>
          <p:cNvSpPr txBox="1"/>
          <p:nvPr/>
        </p:nvSpPr>
        <p:spPr>
          <a:xfrm>
            <a:off x="9058504" y="544068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Execution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1002975" y="640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kern="0" spc="-40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8899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members, each owning part of the pipeline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992112" cy="3108960"/>
          </a:xfrm>
          <a:prstGeom prst="roundRect">
            <a:avLst>
              <a:gd name="adj" fmla="val 4590"/>
            </a:avLst>
          </a:prstGeom>
          <a:solidFill>
            <a:srgbClr val="F1F5F8"/>
          </a:solidFill>
          <a:ln w="12700">
            <a:solidFill>
              <a:srgbClr val="DDE4EA"/>
            </a:solidFill>
            <a:prstDash val="solid"/>
          </a:ln>
          <a:effectLst>
            <a:outerShdw blurRad="114300" dist="25400" dir="5400000" algn="bl" rotWithShape="0">
              <a:srgbClr val="0F1C2A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896112" y="2304288"/>
            <a:ext cx="749808" cy="749808"/>
          </a:xfrm>
          <a:prstGeom prst="ellipse">
            <a:avLst/>
          </a:prstGeom>
          <a:solidFill>
            <a:srgbClr val="0F1C2A"/>
          </a:solidFill>
          <a:ln w="12700">
            <a:solidFill>
              <a:srgbClr val="0F1C2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 txBox="1"/>
          <p:nvPr/>
        </p:nvSpPr>
        <p:spPr>
          <a:xfrm>
            <a:off x="896112" y="230428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273552"/>
            <a:ext cx="148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Minh Hoang Duong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895344"/>
            <a:ext cx="1480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backend architecture, integration and visualisation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869936" y="1920240"/>
            <a:ext cx="1992112" cy="3108960"/>
          </a:xfrm>
          <a:prstGeom prst="roundRect">
            <a:avLst>
              <a:gd name="adj" fmla="val 4590"/>
            </a:avLst>
          </a:prstGeom>
          <a:solidFill>
            <a:srgbClr val="F1F5F8"/>
          </a:solidFill>
          <a:ln w="12700">
            <a:solidFill>
              <a:srgbClr val="DDE4EA"/>
            </a:solidFill>
            <a:prstDash val="solid"/>
          </a:ln>
          <a:effectLst>
            <a:outerShdw blurRad="114300" dist="25400" dir="5400000" algn="bl" rotWithShape="0">
              <a:srgbClr val="0F1C2A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3125968" y="2304288"/>
            <a:ext cx="749808" cy="749808"/>
          </a:xfrm>
          <a:prstGeom prst="ellipse">
            <a:avLst/>
          </a:prstGeom>
          <a:solidFill>
            <a:srgbClr val="0F1C2A"/>
          </a:solidFill>
          <a:ln w="12700">
            <a:solidFill>
              <a:srgbClr val="0F1C2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 txBox="1"/>
          <p:nvPr/>
        </p:nvSpPr>
        <p:spPr>
          <a:xfrm>
            <a:off x="3125968" y="230428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125968" y="3273552"/>
            <a:ext cx="148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Lakshit Bansal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125968" y="3895344"/>
            <a:ext cx="1480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layer, robot integration and simulation design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99792" y="1920240"/>
            <a:ext cx="1992112" cy="3108960"/>
          </a:xfrm>
          <a:prstGeom prst="roundRect">
            <a:avLst>
              <a:gd name="adj" fmla="val 4590"/>
            </a:avLst>
          </a:prstGeom>
          <a:solidFill>
            <a:srgbClr val="F1F5F8"/>
          </a:solidFill>
          <a:ln w="12700">
            <a:solidFill>
              <a:srgbClr val="DDE4EA"/>
            </a:solidFill>
            <a:prstDash val="solid"/>
          </a:ln>
          <a:effectLst>
            <a:outerShdw blurRad="114300" dist="25400" dir="5400000" algn="bl" rotWithShape="0">
              <a:srgbClr val="0F1C2A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5355824" y="2304288"/>
            <a:ext cx="749808" cy="749808"/>
          </a:xfrm>
          <a:prstGeom prst="ellipse">
            <a:avLst/>
          </a:prstGeom>
          <a:solidFill>
            <a:srgbClr val="0F1C2A"/>
          </a:solidFill>
          <a:ln w="12700">
            <a:solidFill>
              <a:srgbClr val="0F1C2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 txBox="1"/>
          <p:nvPr/>
        </p:nvSpPr>
        <p:spPr>
          <a:xfrm>
            <a:off x="5355824" y="230428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355824" y="3273552"/>
            <a:ext cx="148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 Jay Makhijani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355824" y="3895344"/>
            <a:ext cx="1480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parser, task planning and evaluation lead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29648" y="1920240"/>
            <a:ext cx="1992112" cy="3108960"/>
          </a:xfrm>
          <a:prstGeom prst="roundRect">
            <a:avLst>
              <a:gd name="adj" fmla="val 4590"/>
            </a:avLst>
          </a:prstGeom>
          <a:solidFill>
            <a:srgbClr val="F1F5F8"/>
          </a:solidFill>
          <a:ln w="12700">
            <a:solidFill>
              <a:srgbClr val="DDE4EA"/>
            </a:solidFill>
            <a:prstDash val="solid"/>
          </a:ln>
          <a:effectLst>
            <a:outerShdw blurRad="114300" dist="25400" dir="5400000" algn="bl" rotWithShape="0">
              <a:srgbClr val="0F1C2A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7585680" y="2304288"/>
            <a:ext cx="749808" cy="749808"/>
          </a:xfrm>
          <a:prstGeom prst="ellipse">
            <a:avLst/>
          </a:prstGeom>
          <a:solidFill>
            <a:srgbClr val="0F1C2A"/>
          </a:solidFill>
          <a:ln w="12700">
            <a:solidFill>
              <a:srgbClr val="0F1C2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 txBox="1"/>
          <p:nvPr/>
        </p:nvSpPr>
        <p:spPr>
          <a:xfrm>
            <a:off x="7585680" y="230428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585680" y="3273552"/>
            <a:ext cx="148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Dinith Thejana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585680" y="3895344"/>
            <a:ext cx="1480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pipeline, YOLO fine-tuning and scene integration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559503" y="1920240"/>
            <a:ext cx="1992112" cy="3108960"/>
          </a:xfrm>
          <a:prstGeom prst="roundRect">
            <a:avLst>
              <a:gd name="adj" fmla="val 4590"/>
            </a:avLst>
          </a:prstGeom>
          <a:solidFill>
            <a:srgbClr val="F1F5F8"/>
          </a:solidFill>
          <a:ln w="12700">
            <a:solidFill>
              <a:srgbClr val="DDE4EA"/>
            </a:solidFill>
            <a:prstDash val="solid"/>
          </a:ln>
          <a:effectLst>
            <a:outerShdw blurRad="114300" dist="25400" dir="5400000" algn="bl" rotWithShape="0">
              <a:srgbClr val="0F1C2A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5" name="Shape 23"/>
          <p:cNvSpPr/>
          <p:nvPr/>
        </p:nvSpPr>
        <p:spPr>
          <a:xfrm>
            <a:off x="9815535" y="2304288"/>
            <a:ext cx="749808" cy="749808"/>
          </a:xfrm>
          <a:prstGeom prst="ellipse">
            <a:avLst/>
          </a:prstGeom>
          <a:solidFill>
            <a:srgbClr val="0F1C2A"/>
          </a:solidFill>
          <a:ln w="12700">
            <a:solidFill>
              <a:srgbClr val="0F1C2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 txBox="1"/>
          <p:nvPr/>
        </p:nvSpPr>
        <p:spPr>
          <a:xfrm>
            <a:off x="9815535" y="230428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815535" y="3273552"/>
            <a:ext cx="148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Kaveesha Dulanjana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815535" y="3895344"/>
            <a:ext cx="1480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QA, regression testing, planner safety and documentation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002975" y="640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kern="0" spc="-40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System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559509" cy="896112"/>
          </a:xfrm>
          <a:prstGeom prst="roundRect">
            <a:avLst>
              <a:gd name="adj" fmla="val 10204"/>
            </a:avLst>
          </a:prstGeom>
          <a:solidFill>
            <a:srgbClr val="F1F5F8"/>
          </a:solidFill>
          <a:ln w="15875">
            <a:solidFill>
              <a:srgbClr val="DDE4EA"/>
            </a:solidFill>
            <a:prstDash val="solid"/>
          </a:ln>
          <a:effectLst>
            <a:outerShdw blurRad="114300" dist="25400" dir="5400000" algn="bl" rotWithShape="0">
              <a:srgbClr val="0F1C2A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 txBox="1"/>
          <p:nvPr/>
        </p:nvSpPr>
        <p:spPr>
          <a:xfrm>
            <a:off x="694944" y="1371600"/>
            <a:ext cx="1449781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199589" y="1371600"/>
            <a:ext cx="3108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3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510485" y="1371600"/>
            <a:ext cx="1559509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5875">
            <a:solidFill>
              <a:srgbClr val="DDE4EA"/>
            </a:solidFill>
            <a:prstDash val="solid"/>
          </a:ln>
          <a:effectLst>
            <a:outerShdw blurRad="114300" dist="25400" dir="5400000" algn="bl" rotWithShape="0">
              <a:srgbClr val="0F1C2A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2565349" y="1371600"/>
            <a:ext cx="1449781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0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069994" y="1371600"/>
            <a:ext cx="3108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3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80890" y="1371600"/>
            <a:ext cx="1559509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5875">
            <a:solidFill>
              <a:srgbClr val="DDE4EA"/>
            </a:solidFill>
            <a:prstDash val="solid"/>
          </a:ln>
          <a:effectLst>
            <a:outerShdw blurRad="114300" dist="25400" dir="5400000" algn="bl" rotWithShape="0">
              <a:srgbClr val="0F1C2A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 txBox="1"/>
          <p:nvPr/>
        </p:nvSpPr>
        <p:spPr>
          <a:xfrm>
            <a:off x="4435754" y="1371600"/>
            <a:ext cx="1449781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</a:t>
            </a:r>
            <a:endParaRPr lang="en-US" sz="130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940400" y="1371600"/>
            <a:ext cx="3108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3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51296" y="1371600"/>
            <a:ext cx="1559509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5875">
            <a:solidFill>
              <a:srgbClr val="DDE4EA"/>
            </a:solidFill>
            <a:prstDash val="solid"/>
          </a:ln>
          <a:effectLst>
            <a:outerShdw blurRad="114300" dist="25400" dir="5400000" algn="bl" rotWithShape="0">
              <a:srgbClr val="0F1C2A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 txBox="1"/>
          <p:nvPr/>
        </p:nvSpPr>
        <p:spPr>
          <a:xfrm>
            <a:off x="6306160" y="1371600"/>
            <a:ext cx="1449781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30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810805" y="1371600"/>
            <a:ext cx="3108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3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21701" y="1371600"/>
            <a:ext cx="1559509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5875">
            <a:solidFill>
              <a:srgbClr val="DDE4EA"/>
            </a:solidFill>
            <a:prstDash val="solid"/>
          </a:ln>
          <a:effectLst>
            <a:outerShdw blurRad="114300" dist="25400" dir="5400000" algn="bl" rotWithShape="0">
              <a:srgbClr val="0F1C2A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 txBox="1"/>
          <p:nvPr/>
        </p:nvSpPr>
        <p:spPr>
          <a:xfrm>
            <a:off x="8176565" y="1371600"/>
            <a:ext cx="1449781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681210" y="1371600"/>
            <a:ext cx="3108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3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992106" y="1371600"/>
            <a:ext cx="1559509" cy="896112"/>
          </a:xfrm>
          <a:prstGeom prst="roundRect">
            <a:avLst>
              <a:gd name="adj" fmla="val 10204"/>
            </a:avLst>
          </a:prstGeom>
          <a:solidFill>
            <a:srgbClr val="0F1C2A"/>
          </a:solidFill>
          <a:ln w="15875">
            <a:solidFill>
              <a:srgbClr val="0F1C2A"/>
            </a:solidFill>
            <a:prstDash val="solid"/>
          </a:ln>
          <a:effectLst>
            <a:outerShdw blurRad="114300" dist="25400" dir="5400000" algn="bl" rotWithShape="0">
              <a:srgbClr val="0F1C2A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 txBox="1"/>
          <p:nvPr/>
        </p:nvSpPr>
        <p:spPr>
          <a:xfrm>
            <a:off x="10046970" y="1371600"/>
            <a:ext cx="1449781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KUKA /</a:t>
            </a:r>
            <a:endParaRPr lang="en-US" sz="130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PyBullet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26517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can currently do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640080" y="3328416"/>
            <a:ext cx="155448" cy="155448"/>
          </a:xfrm>
          <a:prstGeom prst="roundRect">
            <a:avLst>
              <a:gd name="adj" fmla="val 29412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 txBox="1"/>
          <p:nvPr/>
        </p:nvSpPr>
        <p:spPr>
          <a:xfrm>
            <a:off x="969264" y="3246120"/>
            <a:ext cx="6071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structured pick/place/move instructions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40080" y="3931920"/>
            <a:ext cx="155448" cy="155448"/>
          </a:xfrm>
          <a:prstGeom prst="roundRect">
            <a:avLst>
              <a:gd name="adj" fmla="val 29412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 txBox="1"/>
          <p:nvPr/>
        </p:nvSpPr>
        <p:spPr>
          <a:xfrm>
            <a:off x="969264" y="3849624"/>
            <a:ext cx="6071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represent workspace objects in simulation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4535424"/>
            <a:ext cx="155448" cy="155448"/>
          </a:xfrm>
          <a:prstGeom prst="roundRect">
            <a:avLst>
              <a:gd name="adj" fmla="val 29412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 txBox="1"/>
          <p:nvPr/>
        </p:nvSpPr>
        <p:spPr>
          <a:xfrm>
            <a:off x="969264" y="4453128"/>
            <a:ext cx="6071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basic action plans such as LOCATE → MOVE → PICK → MOVE → PLACE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40080" y="5138928"/>
            <a:ext cx="155448" cy="155448"/>
          </a:xfrm>
          <a:prstGeom prst="roundRect">
            <a:avLst>
              <a:gd name="adj" fmla="val 29412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Text 26"/>
          <p:cNvSpPr txBox="1"/>
          <p:nvPr/>
        </p:nvSpPr>
        <p:spPr>
          <a:xfrm>
            <a:off x="969264" y="5056632"/>
            <a:ext cx="6071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pick-and-place tasks using MockRobot or the KUKA simulation controller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40080" y="5742432"/>
            <a:ext cx="155448" cy="155448"/>
          </a:xfrm>
          <a:prstGeom prst="roundRect">
            <a:avLst>
              <a:gd name="adj" fmla="val 29412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 txBox="1"/>
          <p:nvPr/>
        </p:nvSpPr>
        <p:spPr>
          <a:xfrm>
            <a:off x="969264" y="5660136"/>
            <a:ext cx="6071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some invalid instructions and stop when execution reports a failure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7498080" y="2615184"/>
            <a:ext cx="4053535" cy="3200400"/>
          </a:xfrm>
          <a:prstGeom prst="roundRect">
            <a:avLst>
              <a:gd name="adj" fmla="val 2857"/>
            </a:avLst>
          </a:prstGeom>
          <a:solidFill>
            <a:srgbClr val="F1F5F8"/>
          </a:solidFill>
          <a:ln w="12700">
            <a:solidFill>
              <a:srgbClr val="DDE4EA"/>
            </a:solidFill>
            <a:prstDash val="solid"/>
          </a:ln>
          <a:effectLst>
            <a:outerShdw blurRad="114300" dist="25400" dir="5400000" algn="bl" rotWithShape="0">
              <a:srgbClr val="0F1C2A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7863840" y="29260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Text 31"/>
          <p:cNvSpPr txBox="1"/>
          <p:nvPr/>
        </p:nvSpPr>
        <p:spPr>
          <a:xfrm>
            <a:off x="7863840" y="3200400"/>
            <a:ext cx="3322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in, rules out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7863840" y="3602736"/>
            <a:ext cx="33220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only handles language. It turns a free-form instruction into a validated command — action, object, destination, confidence.</a:t>
            </a:r>
            <a:endParaRPr lang="en-US" sz="1250" dirty="0"/>
          </a:p>
          <a:p>
            <a:pPr marL="0" indent="0">
              <a:lnSpc>
                <a:spcPts val="1750"/>
              </a:lnSpc>
              <a:buNone/>
            </a:pPr>
            <a:r>
              <a:rPr lang="en-US" sz="125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after that is deterministic: a rule-based planner expands the command into a fixed LOCATE → MOVE → PICK → MOVE → PLACE sequence. The same instruction always produces the same plan, and low-confidence instructions are rejected before the robot moves.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11002975" y="640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kern="0" spc="-40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Far We Have Come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17904"/>
            <a:ext cx="10911535" cy="822960"/>
          </a:xfrm>
          <a:prstGeom prst="roundRect">
            <a:avLst>
              <a:gd name="adj" fmla="val 10000"/>
            </a:avLst>
          </a:prstGeom>
          <a:solidFill>
            <a:srgbClr val="F1F5F8"/>
          </a:solidFill>
          <a:ln w="12700">
            <a:solidFill>
              <a:srgbClr val="DDE4EA"/>
            </a:solidFill>
            <a:prstDash val="solid"/>
          </a:ln>
          <a:effectLst>
            <a:outerShdw blurRad="114300" dist="25400" dir="5400000" algn="bl" rotWithShape="0">
              <a:srgbClr val="0F1C2A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1024128" y="1755648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24128" y="1755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72768" y="151790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880360" y="1517904"/>
            <a:ext cx="82140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parser, structured instructions and early PyBullet/vision prototype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478024"/>
            <a:ext cx="10911535" cy="822960"/>
          </a:xfrm>
          <a:prstGeom prst="roundRect">
            <a:avLst>
              <a:gd name="adj" fmla="val 10000"/>
            </a:avLst>
          </a:prstGeom>
          <a:solidFill>
            <a:srgbClr val="F1F5F8"/>
          </a:solidFill>
          <a:ln w="12700">
            <a:solidFill>
              <a:srgbClr val="DDE4EA"/>
            </a:solidFill>
            <a:prstDash val="solid"/>
          </a:ln>
          <a:effectLst>
            <a:outerShdw blurRad="114300" dist="25400" dir="5400000" algn="bl" rotWithShape="0">
              <a:srgbClr val="0F1C2A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1024128" y="2715768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 txBox="1"/>
          <p:nvPr/>
        </p:nvSpPr>
        <p:spPr>
          <a:xfrm>
            <a:off x="1024128" y="2715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247802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2478024"/>
            <a:ext cx="82140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planner, MockRobot, executor and connected pipeline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3438144"/>
            <a:ext cx="10911535" cy="822960"/>
          </a:xfrm>
          <a:prstGeom prst="roundRect">
            <a:avLst>
              <a:gd name="adj" fmla="val 10000"/>
            </a:avLst>
          </a:prstGeom>
          <a:solidFill>
            <a:srgbClr val="F1F5F8"/>
          </a:solidFill>
          <a:ln w="12700">
            <a:solidFill>
              <a:srgbClr val="DDE4EA"/>
            </a:solidFill>
            <a:prstDash val="solid"/>
          </a:ln>
          <a:effectLst>
            <a:outerShdw blurRad="114300" dist="25400" dir="5400000" algn="bl" rotWithShape="0">
              <a:srgbClr val="0F1C2A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1024128" y="3675888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 txBox="1"/>
          <p:nvPr/>
        </p:nvSpPr>
        <p:spPr>
          <a:xfrm>
            <a:off x="1024128" y="3675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572768" y="343814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880360" y="3438144"/>
            <a:ext cx="82140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planning, multi-step planning API and broader testing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40080" y="4398264"/>
            <a:ext cx="10911535" cy="822960"/>
          </a:xfrm>
          <a:prstGeom prst="roundRect">
            <a:avLst>
              <a:gd name="adj" fmla="val 10000"/>
            </a:avLst>
          </a:prstGeom>
          <a:solidFill>
            <a:srgbClr val="F1F5F8"/>
          </a:solidFill>
          <a:ln w="12700">
            <a:solidFill>
              <a:srgbClr val="DDE4EA"/>
            </a:solidFill>
            <a:prstDash val="solid"/>
          </a:ln>
          <a:effectLst>
            <a:outerShdw blurRad="114300" dist="25400" dir="5400000" algn="bl" rotWithShape="0">
              <a:srgbClr val="0F1C2A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1024128" y="4636008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 txBox="1"/>
          <p:nvPr/>
        </p:nvSpPr>
        <p:spPr>
          <a:xfrm>
            <a:off x="1024128" y="4636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572768" y="439826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2880360" y="4398264"/>
            <a:ext cx="82140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KUKA simulation, configurable workspace and fine-tuned YOLOv8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40080" y="5358384"/>
            <a:ext cx="10911535" cy="822960"/>
          </a:xfrm>
          <a:prstGeom prst="roundRect">
            <a:avLst>
              <a:gd name="adj" fmla="val 10000"/>
            </a:avLst>
          </a:prstGeom>
          <a:solidFill>
            <a:srgbClr val="0F1C2A"/>
          </a:solidFill>
          <a:ln w="12700">
            <a:solidFill>
              <a:srgbClr val="0F1C2A"/>
            </a:solidFill>
            <a:prstDash val="solid"/>
          </a:ln>
          <a:effectLst>
            <a:outerShdw blurRad="114300" dist="25400" dir="5400000" algn="bl" rotWithShape="0">
              <a:srgbClr val="0F1C2A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4" name="Shape 22"/>
          <p:cNvSpPr/>
          <p:nvPr/>
        </p:nvSpPr>
        <p:spPr>
          <a:xfrm>
            <a:off x="1024128" y="5596128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 txBox="1"/>
          <p:nvPr/>
        </p:nvSpPr>
        <p:spPr>
          <a:xfrm>
            <a:off x="1024128" y="5596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572768" y="535838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2880360" y="5358384"/>
            <a:ext cx="82140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Qwen/Ollama, response cache, Docker work and ROS2 preparation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11002975" y="640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kern="0" spc="-40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8899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— instruction parser and simulation prototype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9475927" y="68580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9777679" y="68580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E9EE"/>
          </a:solidFill>
          <a:ln w="12700">
            <a:solidFill>
              <a:srgbClr val="E3E9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10079431" y="68580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E9EE"/>
          </a:solidFill>
          <a:ln w="12700">
            <a:solidFill>
              <a:srgbClr val="E3E9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10381183" y="68580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E9EE"/>
          </a:solidFill>
          <a:ln w="12700">
            <a:solidFill>
              <a:srgbClr val="E3E9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10682935" y="68580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E9EE"/>
          </a:solidFill>
          <a:ln w="12700">
            <a:solidFill>
              <a:srgbClr val="E3E9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5318608" cy="1874520"/>
          </a:xfrm>
          <a:prstGeom prst="roundRect">
            <a:avLst>
              <a:gd name="adj" fmla="val 4878"/>
            </a:avLst>
          </a:prstGeom>
          <a:solidFill>
            <a:srgbClr val="F1F5F8"/>
          </a:solidFill>
          <a:ln w="12700">
            <a:solidFill>
              <a:srgbClr val="DDE4EA"/>
            </a:solidFill>
            <a:prstDash val="solid"/>
          </a:ln>
          <a:effectLst>
            <a:outerShdw blurRad="114300" dist="25400" dir="5400000" algn="bl" rotWithShape="0">
              <a:srgbClr val="0F1C2A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1024128" y="228600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 txBox="1"/>
          <p:nvPr/>
        </p:nvSpPr>
        <p:spPr>
          <a:xfrm>
            <a:off x="1005840" y="2587752"/>
            <a:ext cx="458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parser built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953512"/>
            <a:ext cx="458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instruction schema, prompt design and edge-case handling, tested without API calls.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33008" y="1874520"/>
            <a:ext cx="5318608" cy="1874520"/>
          </a:xfrm>
          <a:prstGeom prst="roundRect">
            <a:avLst>
              <a:gd name="adj" fmla="val 4878"/>
            </a:avLst>
          </a:prstGeom>
          <a:solidFill>
            <a:srgbClr val="F1F5F8"/>
          </a:solidFill>
          <a:ln w="12700">
            <a:solidFill>
              <a:srgbClr val="DDE4EA"/>
            </a:solidFill>
            <a:prstDash val="solid"/>
          </a:ln>
          <a:effectLst>
            <a:outerShdw blurRad="114300" dist="25400" dir="5400000" algn="bl" rotWithShape="0">
              <a:srgbClr val="0F1C2A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6617056" y="228600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 txBox="1"/>
          <p:nvPr/>
        </p:nvSpPr>
        <p:spPr>
          <a:xfrm>
            <a:off x="6598768" y="2587752"/>
            <a:ext cx="458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selected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598768" y="2953512"/>
            <a:ext cx="458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GPT-4o, Gemini and DeepSeek compared over 25 instructions; GPT-4o chosen on accuracy and latency.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5318608" cy="1874520"/>
          </a:xfrm>
          <a:prstGeom prst="roundRect">
            <a:avLst>
              <a:gd name="adj" fmla="val 4878"/>
            </a:avLst>
          </a:prstGeom>
          <a:solidFill>
            <a:srgbClr val="F1F5F8"/>
          </a:solidFill>
          <a:ln w="12700">
            <a:solidFill>
              <a:srgbClr val="DDE4EA"/>
            </a:solidFill>
            <a:prstDash val="solid"/>
          </a:ln>
          <a:effectLst>
            <a:outerShdw blurRad="114300" dist="25400" dir="5400000" algn="bl" rotWithShape="0">
              <a:srgbClr val="0F1C2A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1024128" y="44348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 txBox="1"/>
          <p:nvPr/>
        </p:nvSpPr>
        <p:spPr>
          <a:xfrm>
            <a:off x="1005840" y="4736592"/>
            <a:ext cx="458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approach chosen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5102352"/>
            <a:ext cx="458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with OpenCV selected as the hybrid detector, plus a scene format for the planner.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33008" y="4023360"/>
            <a:ext cx="5318608" cy="1874520"/>
          </a:xfrm>
          <a:prstGeom prst="roundRect">
            <a:avLst>
              <a:gd name="adj" fmla="val 4878"/>
            </a:avLst>
          </a:prstGeom>
          <a:solidFill>
            <a:srgbClr val="F1F5F8"/>
          </a:solidFill>
          <a:ln w="12700">
            <a:solidFill>
              <a:srgbClr val="DDE4EA"/>
            </a:solidFill>
            <a:prstDash val="solid"/>
          </a:ln>
          <a:effectLst>
            <a:outerShdw blurRad="114300" dist="25400" dir="5400000" algn="bl" rotWithShape="0">
              <a:srgbClr val="0F1C2A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Shape 20"/>
          <p:cNvSpPr/>
          <p:nvPr/>
        </p:nvSpPr>
        <p:spPr>
          <a:xfrm>
            <a:off x="6617056" y="44348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 txBox="1"/>
          <p:nvPr/>
        </p:nvSpPr>
        <p:spPr>
          <a:xfrm>
            <a:off x="6598768" y="4736592"/>
            <a:ext cx="458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prototype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598768" y="5102352"/>
            <a:ext cx="458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PyBullet workspace built from scratch: KUKA arm, coloured blocks, camera and colour detection.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002975" y="640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kern="0" spc="-40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8899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planning, execution and the connected pipeline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9475927" y="68580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E9EE"/>
          </a:solidFill>
          <a:ln w="12700">
            <a:solidFill>
              <a:srgbClr val="E3E9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9777679" y="68580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10079431" y="68580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E9EE"/>
          </a:solidFill>
          <a:ln w="12700">
            <a:solidFill>
              <a:srgbClr val="E3E9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10381183" y="68580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E9EE"/>
          </a:solidFill>
          <a:ln w="12700">
            <a:solidFill>
              <a:srgbClr val="E3E9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10682935" y="68580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E9EE"/>
          </a:solidFill>
          <a:ln w="12700">
            <a:solidFill>
              <a:srgbClr val="E3E9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5318608" cy="1874520"/>
          </a:xfrm>
          <a:prstGeom prst="roundRect">
            <a:avLst>
              <a:gd name="adj" fmla="val 4878"/>
            </a:avLst>
          </a:prstGeom>
          <a:solidFill>
            <a:srgbClr val="F1F5F8"/>
          </a:solidFill>
          <a:ln w="12700">
            <a:solidFill>
              <a:srgbClr val="DDE4EA"/>
            </a:solidFill>
            <a:prstDash val="solid"/>
          </a:ln>
          <a:effectLst>
            <a:outerShdw blurRad="114300" dist="25400" dir="5400000" algn="bl" rotWithShape="0">
              <a:srgbClr val="0F1C2A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1024128" y="228600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 txBox="1"/>
          <p:nvPr/>
        </p:nvSpPr>
        <p:spPr>
          <a:xfrm>
            <a:off x="1005840" y="2587752"/>
            <a:ext cx="458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task planner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953512"/>
            <a:ext cx="458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action types, each decomposed into a fixed, deterministic sequence of robot primitives.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33008" y="1874520"/>
            <a:ext cx="5318608" cy="1874520"/>
          </a:xfrm>
          <a:prstGeom prst="roundRect">
            <a:avLst>
              <a:gd name="adj" fmla="val 4878"/>
            </a:avLst>
          </a:prstGeom>
          <a:solidFill>
            <a:srgbClr val="F1F5F8"/>
          </a:solidFill>
          <a:ln w="12700">
            <a:solidFill>
              <a:srgbClr val="DDE4EA"/>
            </a:solidFill>
            <a:prstDash val="solid"/>
          </a:ln>
          <a:effectLst>
            <a:outerShdw blurRad="114300" dist="25400" dir="5400000" algn="bl" rotWithShape="0">
              <a:srgbClr val="0F1C2A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6617056" y="228600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 txBox="1"/>
          <p:nvPr/>
        </p:nvSpPr>
        <p:spPr>
          <a:xfrm>
            <a:off x="6598768" y="2587752"/>
            <a:ext cx="458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command schema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598768" y="2953512"/>
            <a:ext cx="458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command contract between planner and executor, validated at the boundary.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5318608" cy="1874520"/>
          </a:xfrm>
          <a:prstGeom prst="roundRect">
            <a:avLst>
              <a:gd name="adj" fmla="val 4878"/>
            </a:avLst>
          </a:prstGeom>
          <a:solidFill>
            <a:srgbClr val="F1F5F8"/>
          </a:solidFill>
          <a:ln w="12700">
            <a:solidFill>
              <a:srgbClr val="DDE4EA"/>
            </a:solidFill>
            <a:prstDash val="solid"/>
          </a:ln>
          <a:effectLst>
            <a:outerShdw blurRad="114300" dist="25400" dir="5400000" algn="bl" rotWithShape="0">
              <a:srgbClr val="0F1C2A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1024128" y="44348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 txBox="1"/>
          <p:nvPr/>
        </p:nvSpPr>
        <p:spPr>
          <a:xfrm>
            <a:off x="1005840" y="4736592"/>
            <a:ext cx="458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MockRobot and executor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5102352"/>
            <a:ext cx="458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stateful stand-in robot with per-command timeouts and graceful failure handling.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33008" y="4023360"/>
            <a:ext cx="5318608" cy="1874520"/>
          </a:xfrm>
          <a:prstGeom prst="roundRect">
            <a:avLst>
              <a:gd name="adj" fmla="val 4878"/>
            </a:avLst>
          </a:prstGeom>
          <a:solidFill>
            <a:srgbClr val="F1F5F8"/>
          </a:solidFill>
          <a:ln w="12700">
            <a:solidFill>
              <a:srgbClr val="DDE4EA"/>
            </a:solidFill>
            <a:prstDash val="solid"/>
          </a:ln>
          <a:effectLst>
            <a:outerShdw blurRad="114300" dist="25400" dir="5400000" algn="bl" rotWithShape="0">
              <a:srgbClr val="0F1C2A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Shape 20"/>
          <p:cNvSpPr/>
          <p:nvPr/>
        </p:nvSpPr>
        <p:spPr>
          <a:xfrm>
            <a:off x="6617056" y="44348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 txBox="1"/>
          <p:nvPr/>
        </p:nvSpPr>
        <p:spPr>
          <a:xfrm>
            <a:off x="6598768" y="4736592"/>
            <a:ext cx="458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connected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598768" y="5102352"/>
            <a:ext cx="458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stages wired together end to end, with vision stubbed until Sprint 3.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002975" y="640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kern="0" spc="-40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3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8899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reasoning, evaluation baseline and real execution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9475927" y="68580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E9EE"/>
          </a:solidFill>
          <a:ln w="12700">
            <a:solidFill>
              <a:srgbClr val="E3E9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9777679" y="68580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E9EE"/>
          </a:solidFill>
          <a:ln w="12700">
            <a:solidFill>
              <a:srgbClr val="E3E9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10079431" y="68580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10381183" y="68580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E9EE"/>
          </a:solidFill>
          <a:ln w="12700">
            <a:solidFill>
              <a:srgbClr val="E3E9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10682935" y="68580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E9EE"/>
          </a:solidFill>
          <a:ln w="12700">
            <a:solidFill>
              <a:srgbClr val="E3E9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5318608" cy="1874520"/>
          </a:xfrm>
          <a:prstGeom prst="roundRect">
            <a:avLst>
              <a:gd name="adj" fmla="val 4878"/>
            </a:avLst>
          </a:prstGeom>
          <a:solidFill>
            <a:srgbClr val="F1F5F8"/>
          </a:solidFill>
          <a:ln w="12700">
            <a:solidFill>
              <a:srgbClr val="DDE4EA"/>
            </a:solidFill>
            <a:prstDash val="solid"/>
          </a:ln>
          <a:effectLst>
            <a:outerShdw blurRad="114300" dist="25400" dir="5400000" algn="bl" rotWithShape="0">
              <a:srgbClr val="0F1C2A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1024128" y="228600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 txBox="1"/>
          <p:nvPr/>
        </p:nvSpPr>
        <p:spPr>
          <a:xfrm>
            <a:off x="1005840" y="2587752"/>
            <a:ext cx="458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language handled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953512"/>
            <a:ext cx="458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relations such as left of, near and on top of resolved into workspace offsets.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33008" y="1874520"/>
            <a:ext cx="5318608" cy="1874520"/>
          </a:xfrm>
          <a:prstGeom prst="roundRect">
            <a:avLst>
              <a:gd name="adj" fmla="val 4878"/>
            </a:avLst>
          </a:prstGeom>
          <a:solidFill>
            <a:srgbClr val="F1F5F8"/>
          </a:solidFill>
          <a:ln w="12700">
            <a:solidFill>
              <a:srgbClr val="DDE4EA"/>
            </a:solidFill>
            <a:prstDash val="solid"/>
          </a:ln>
          <a:effectLst>
            <a:outerShdw blurRad="114300" dist="25400" dir="5400000" algn="bl" rotWithShape="0">
              <a:srgbClr val="0F1C2A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6617056" y="228600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 txBox="1"/>
          <p:nvPr/>
        </p:nvSpPr>
        <p:spPr>
          <a:xfrm>
            <a:off x="6598768" y="2587752"/>
            <a:ext cx="458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Multi-step planning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598768" y="2953512"/>
            <a:ext cx="458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parsed instructions combined into a single renumbered action plan.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5318608" cy="1874520"/>
          </a:xfrm>
          <a:prstGeom prst="roundRect">
            <a:avLst>
              <a:gd name="adj" fmla="val 4878"/>
            </a:avLst>
          </a:prstGeom>
          <a:solidFill>
            <a:srgbClr val="F1F5F8"/>
          </a:solidFill>
          <a:ln w="12700">
            <a:solidFill>
              <a:srgbClr val="DDE4EA"/>
            </a:solidFill>
            <a:prstDash val="solid"/>
          </a:ln>
          <a:effectLst>
            <a:outerShdw blurRad="114300" dist="25400" dir="5400000" algn="bl" rotWithShape="0">
              <a:srgbClr val="0F1C2A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1024128" y="44348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 txBox="1"/>
          <p:nvPr/>
        </p:nvSpPr>
        <p:spPr>
          <a:xfrm>
            <a:off x="1005840" y="4736592"/>
            <a:ext cx="458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parser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5102352"/>
            <a:ext cx="458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zero-LLM keyword matcher built as the control group for measuring what the LLM adds.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33008" y="4023360"/>
            <a:ext cx="5318608" cy="1874520"/>
          </a:xfrm>
          <a:prstGeom prst="roundRect">
            <a:avLst>
              <a:gd name="adj" fmla="val 4878"/>
            </a:avLst>
          </a:prstGeom>
          <a:solidFill>
            <a:srgbClr val="F1F5F8"/>
          </a:solidFill>
          <a:ln w="12700">
            <a:solidFill>
              <a:srgbClr val="DDE4EA"/>
            </a:solidFill>
            <a:prstDash val="solid"/>
          </a:ln>
          <a:effectLst>
            <a:outerShdw blurRad="114300" dist="25400" dir="5400000" algn="bl" rotWithShape="0">
              <a:srgbClr val="0F1C2A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Shape 20"/>
          <p:cNvSpPr/>
          <p:nvPr/>
        </p:nvSpPr>
        <p:spPr>
          <a:xfrm>
            <a:off x="6617056" y="44348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 txBox="1"/>
          <p:nvPr/>
        </p:nvSpPr>
        <p:spPr>
          <a:xfrm>
            <a:off x="6598768" y="4736592"/>
            <a:ext cx="458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robot execution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598768" y="5102352"/>
            <a:ext cx="458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PyBullet inverse kinematics and grasping: the first full pick-and-place end to end.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002975" y="640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kern="0" spc="-40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4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8899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stabilisation, fine-tuned vision and report integrity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9475927" y="68580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E9EE"/>
          </a:solidFill>
          <a:ln w="12700">
            <a:solidFill>
              <a:srgbClr val="E3E9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9777679" y="68580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E9EE"/>
          </a:solidFill>
          <a:ln w="12700">
            <a:solidFill>
              <a:srgbClr val="E3E9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10079431" y="68580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E9EE"/>
          </a:solidFill>
          <a:ln w="12700">
            <a:solidFill>
              <a:srgbClr val="E3E9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10381183" y="68580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10682935" y="68580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E9EE"/>
          </a:solidFill>
          <a:ln w="12700">
            <a:solidFill>
              <a:srgbClr val="E3E9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5318608" cy="1874520"/>
          </a:xfrm>
          <a:prstGeom prst="roundRect">
            <a:avLst>
              <a:gd name="adj" fmla="val 4878"/>
            </a:avLst>
          </a:prstGeom>
          <a:solidFill>
            <a:srgbClr val="F1F5F8"/>
          </a:solidFill>
          <a:ln w="12700">
            <a:solidFill>
              <a:srgbClr val="DDE4EA"/>
            </a:solidFill>
            <a:prstDash val="solid"/>
          </a:ln>
          <a:effectLst>
            <a:outerShdw blurRad="114300" dist="25400" dir="5400000" algn="bl" rotWithShape="0">
              <a:srgbClr val="0F1C2A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1024128" y="228600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 txBox="1"/>
          <p:nvPr/>
        </p:nvSpPr>
        <p:spPr>
          <a:xfrm>
            <a:off x="1005840" y="2587752"/>
            <a:ext cx="458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Fine-tuned YOLOv8n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953512"/>
            <a:ext cx="458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a synthetic PyBullet dataset covering seven workspace classes.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33008" y="1874520"/>
            <a:ext cx="5318608" cy="1874520"/>
          </a:xfrm>
          <a:prstGeom prst="roundRect">
            <a:avLst>
              <a:gd name="adj" fmla="val 4878"/>
            </a:avLst>
          </a:prstGeom>
          <a:solidFill>
            <a:srgbClr val="F1F5F8"/>
          </a:solidFill>
          <a:ln w="12700">
            <a:solidFill>
              <a:srgbClr val="DDE4EA"/>
            </a:solidFill>
            <a:prstDash val="solid"/>
          </a:ln>
          <a:effectLst>
            <a:outerShdw blurRad="114300" dist="25400" dir="5400000" algn="bl" rotWithShape="0">
              <a:srgbClr val="0F1C2A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6617056" y="228600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 txBox="1"/>
          <p:nvPr/>
        </p:nvSpPr>
        <p:spPr>
          <a:xfrm>
            <a:off x="6598768" y="2587752"/>
            <a:ext cx="458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KUKA execution path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598768" y="2953512"/>
            <a:ext cx="458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LOCATE → MOVE → PICK → MOVE → PLACE runs completed on the KUKA IIWA in simulation.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5318608" cy="1874520"/>
          </a:xfrm>
          <a:prstGeom prst="roundRect">
            <a:avLst>
              <a:gd name="adj" fmla="val 4878"/>
            </a:avLst>
          </a:prstGeom>
          <a:solidFill>
            <a:srgbClr val="F1F5F8"/>
          </a:solidFill>
          <a:ln w="12700">
            <a:solidFill>
              <a:srgbClr val="DDE4EA"/>
            </a:solidFill>
            <a:prstDash val="solid"/>
          </a:ln>
          <a:effectLst>
            <a:outerShdw blurRad="114300" dist="25400" dir="5400000" algn="bl" rotWithShape="0">
              <a:srgbClr val="0F1C2A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1024128" y="44348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 txBox="1"/>
          <p:nvPr/>
        </p:nvSpPr>
        <p:spPr>
          <a:xfrm>
            <a:off x="1005840" y="4736592"/>
            <a:ext cx="458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expanded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5102352"/>
            <a:ext cx="458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grown from 25 to 35 instructions, with end-to-end parse latency benchmarked.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33008" y="4023360"/>
            <a:ext cx="5318608" cy="1874520"/>
          </a:xfrm>
          <a:prstGeom prst="roundRect">
            <a:avLst>
              <a:gd name="adj" fmla="val 4878"/>
            </a:avLst>
          </a:prstGeom>
          <a:solidFill>
            <a:srgbClr val="F1F5F8"/>
          </a:solidFill>
          <a:ln w="12700">
            <a:solidFill>
              <a:srgbClr val="DDE4EA"/>
            </a:solidFill>
            <a:prstDash val="solid"/>
          </a:ln>
          <a:effectLst>
            <a:outerShdw blurRad="114300" dist="25400" dir="5400000" algn="bl" rotWithShape="0">
              <a:srgbClr val="0F1C2A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Shape 20"/>
          <p:cNvSpPr/>
          <p:nvPr/>
        </p:nvSpPr>
        <p:spPr>
          <a:xfrm>
            <a:off x="6617056" y="44348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 txBox="1"/>
          <p:nvPr/>
        </p:nvSpPr>
        <p:spPr>
          <a:xfrm>
            <a:off x="6598768" y="4736592"/>
            <a:ext cx="458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audit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598768" y="5102352"/>
            <a:ext cx="458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figures re-derived from committed code and data; the known safety gap logged openly.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002975" y="640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kern="0" spc="-40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5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8899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LLM, packaging and multi-action instructions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9475927" y="68580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E9EE"/>
          </a:solidFill>
          <a:ln w="12700">
            <a:solidFill>
              <a:srgbClr val="E3E9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9777679" y="68580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E9EE"/>
          </a:solidFill>
          <a:ln w="12700">
            <a:solidFill>
              <a:srgbClr val="E3E9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10079431" y="68580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E9EE"/>
          </a:solidFill>
          <a:ln w="12700">
            <a:solidFill>
              <a:srgbClr val="E3E9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10381183" y="68580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E9EE"/>
          </a:solidFill>
          <a:ln w="12700">
            <a:solidFill>
              <a:srgbClr val="E3E9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10682935" y="68580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5318608" cy="1874520"/>
          </a:xfrm>
          <a:prstGeom prst="roundRect">
            <a:avLst>
              <a:gd name="adj" fmla="val 4878"/>
            </a:avLst>
          </a:prstGeom>
          <a:solidFill>
            <a:srgbClr val="F1F5F8"/>
          </a:solidFill>
          <a:ln w="12700">
            <a:solidFill>
              <a:srgbClr val="DDE4EA"/>
            </a:solidFill>
            <a:prstDash val="solid"/>
          </a:ln>
          <a:effectLst>
            <a:outerShdw blurRad="114300" dist="25400" dir="5400000" algn="bl" rotWithShape="0">
              <a:srgbClr val="0F1C2A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1024128" y="228600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 txBox="1"/>
          <p:nvPr/>
        </p:nvSpPr>
        <p:spPr>
          <a:xfrm>
            <a:off x="1005840" y="2587752"/>
            <a:ext cx="458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LLM backend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953512"/>
            <a:ext cx="458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2.5 through Ollama, giving an offline option for privacy-sensitive deployment.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33008" y="1874520"/>
            <a:ext cx="5318608" cy="1874520"/>
          </a:xfrm>
          <a:prstGeom prst="roundRect">
            <a:avLst>
              <a:gd name="adj" fmla="val 4878"/>
            </a:avLst>
          </a:prstGeom>
          <a:solidFill>
            <a:srgbClr val="F1F5F8"/>
          </a:solidFill>
          <a:ln w="12700">
            <a:solidFill>
              <a:srgbClr val="DDE4EA"/>
            </a:solidFill>
            <a:prstDash val="solid"/>
          </a:ln>
          <a:effectLst>
            <a:outerShdw blurRad="114300" dist="25400" dir="5400000" algn="bl" rotWithShape="0">
              <a:srgbClr val="0F1C2A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6617056" y="228600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 txBox="1"/>
          <p:nvPr/>
        </p:nvSpPr>
        <p:spPr>
          <a:xfrm>
            <a:off x="6598768" y="2587752"/>
            <a:ext cx="458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cache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598768" y="2953512"/>
            <a:ext cx="458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instructions served from disk instead of the API — 107 s down to 4 ms.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5318608" cy="1874520"/>
          </a:xfrm>
          <a:prstGeom prst="roundRect">
            <a:avLst>
              <a:gd name="adj" fmla="val 4878"/>
            </a:avLst>
          </a:prstGeom>
          <a:solidFill>
            <a:srgbClr val="F1F5F8"/>
          </a:solidFill>
          <a:ln w="12700">
            <a:solidFill>
              <a:srgbClr val="DDE4EA"/>
            </a:solidFill>
            <a:prstDash val="solid"/>
          </a:ln>
          <a:effectLst>
            <a:outerShdw blurRad="114300" dist="25400" dir="5400000" algn="bl" rotWithShape="0">
              <a:srgbClr val="0F1C2A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1024128" y="44348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 txBox="1"/>
          <p:nvPr/>
        </p:nvSpPr>
        <p:spPr>
          <a:xfrm>
            <a:off x="1005840" y="4736592"/>
            <a:ext cx="458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packaging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5102352"/>
            <a:ext cx="458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and the pipeline run as containers, with a ROS2/MoveIt image prepared.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33008" y="4023360"/>
            <a:ext cx="5318608" cy="1874520"/>
          </a:xfrm>
          <a:prstGeom prst="roundRect">
            <a:avLst>
              <a:gd name="adj" fmla="val 4878"/>
            </a:avLst>
          </a:prstGeom>
          <a:solidFill>
            <a:srgbClr val="F1F5F8"/>
          </a:solidFill>
          <a:ln w="12700">
            <a:solidFill>
              <a:srgbClr val="DDE4EA"/>
            </a:solidFill>
            <a:prstDash val="solid"/>
          </a:ln>
          <a:effectLst>
            <a:outerShdw blurRad="114300" dist="25400" dir="5400000" algn="bl" rotWithShape="0">
              <a:srgbClr val="0F1C2A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Shape 20"/>
          <p:cNvSpPr/>
          <p:nvPr/>
        </p:nvSpPr>
        <p:spPr>
          <a:xfrm>
            <a:off x="6617056" y="44348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 txBox="1"/>
          <p:nvPr/>
        </p:nvSpPr>
        <p:spPr>
          <a:xfrm>
            <a:off x="6598768" y="4736592"/>
            <a:ext cx="458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Multi-action commands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598768" y="5102352"/>
            <a:ext cx="458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instruction can now carry several actions, planned and executed in order.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002975" y="640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kern="0" spc="-40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Progress So Far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454298" cy="2103120"/>
          </a:xfrm>
          <a:prstGeom prst="roundRect">
            <a:avLst>
              <a:gd name="adj" fmla="val 4348"/>
            </a:avLst>
          </a:prstGeom>
          <a:solidFill>
            <a:srgbClr val="F1F5F8"/>
          </a:solidFill>
          <a:ln w="12700">
            <a:solidFill>
              <a:srgbClr val="DDE4EA"/>
            </a:solidFill>
            <a:prstDash val="solid"/>
          </a:ln>
          <a:effectLst>
            <a:outerShdw blurRad="114300" dist="25400" dir="5400000" algn="bl" rotWithShape="0">
              <a:srgbClr val="0F1C2A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1005840" y="2130552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05840" y="2496312"/>
            <a:ext cx="27227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YOLOv8n for 7 workspace classes.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68698" y="1600200"/>
            <a:ext cx="3454298" cy="2103120"/>
          </a:xfrm>
          <a:prstGeom prst="roundRect">
            <a:avLst>
              <a:gd name="adj" fmla="val 4348"/>
            </a:avLst>
          </a:prstGeom>
          <a:solidFill>
            <a:srgbClr val="F1F5F8"/>
          </a:solidFill>
          <a:ln w="12700">
            <a:solidFill>
              <a:srgbClr val="DDE4EA"/>
            </a:solidFill>
            <a:prstDash val="solid"/>
          </a:ln>
          <a:effectLst>
            <a:outerShdw blurRad="114300" dist="25400" dir="5400000" algn="bl" rotWithShape="0">
              <a:srgbClr val="0F1C2A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4734458" y="2130552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 txBox="1"/>
          <p:nvPr/>
        </p:nvSpPr>
        <p:spPr>
          <a:xfrm>
            <a:off x="4734458" y="2496312"/>
            <a:ext cx="27227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KUKA/PyBullet pick-and-place implementation and recorded successful simulation execution.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97317" y="1600200"/>
            <a:ext cx="3454298" cy="2103120"/>
          </a:xfrm>
          <a:prstGeom prst="roundRect">
            <a:avLst>
              <a:gd name="adj" fmla="val 4348"/>
            </a:avLst>
          </a:prstGeom>
          <a:solidFill>
            <a:srgbClr val="F1F5F8"/>
          </a:solidFill>
          <a:ln w="12700">
            <a:solidFill>
              <a:srgbClr val="DDE4EA"/>
            </a:solidFill>
            <a:prstDash val="solid"/>
          </a:ln>
          <a:effectLst>
            <a:outerShdw blurRad="114300" dist="25400" dir="5400000" algn="bl" rotWithShape="0">
              <a:srgbClr val="0F1C2A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8463077" y="2130552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 txBox="1"/>
          <p:nvPr/>
        </p:nvSpPr>
        <p:spPr>
          <a:xfrm>
            <a:off x="8463077" y="2496312"/>
            <a:ext cx="27227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2.5 integrated through Ollama for local LLM processing.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3454298" cy="2103120"/>
          </a:xfrm>
          <a:prstGeom prst="roundRect">
            <a:avLst>
              <a:gd name="adj" fmla="val 4348"/>
            </a:avLst>
          </a:prstGeom>
          <a:solidFill>
            <a:srgbClr val="F1F5F8"/>
          </a:solidFill>
          <a:ln w="12700">
            <a:solidFill>
              <a:srgbClr val="DDE4EA"/>
            </a:solidFill>
            <a:prstDash val="solid"/>
          </a:ln>
          <a:effectLst>
            <a:outerShdw blurRad="114300" dist="25400" dir="5400000" algn="bl" rotWithShape="0">
              <a:srgbClr val="0F1C2A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1005840" y="4507992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 txBox="1"/>
          <p:nvPr/>
        </p:nvSpPr>
        <p:spPr>
          <a:xfrm>
            <a:off x="1005840" y="4873752"/>
            <a:ext cx="27227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response cache added to speed up repeated instructions.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368698" y="3977640"/>
            <a:ext cx="3454298" cy="2103120"/>
          </a:xfrm>
          <a:prstGeom prst="roundRect">
            <a:avLst>
              <a:gd name="adj" fmla="val 4348"/>
            </a:avLst>
          </a:prstGeom>
          <a:solidFill>
            <a:srgbClr val="F1F5F8"/>
          </a:solidFill>
          <a:ln w="12700">
            <a:solidFill>
              <a:srgbClr val="DDE4EA"/>
            </a:solidFill>
            <a:prstDash val="solid"/>
          </a:ln>
          <a:effectLst>
            <a:outerShdw blurRad="114300" dist="25400" dir="5400000" algn="bl" rotWithShape="0">
              <a:srgbClr val="0F1C2A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4734458" y="4507992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 txBox="1"/>
          <p:nvPr/>
        </p:nvSpPr>
        <p:spPr>
          <a:xfrm>
            <a:off x="4734458" y="4873752"/>
            <a:ext cx="27227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configurations and ROS2/UR5 integration scaffold prepared.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097317" y="3977640"/>
            <a:ext cx="3454298" cy="2103120"/>
          </a:xfrm>
          <a:prstGeom prst="roundRect">
            <a:avLst>
              <a:gd name="adj" fmla="val 4348"/>
            </a:avLst>
          </a:prstGeom>
          <a:solidFill>
            <a:srgbClr val="F1F5F8"/>
          </a:solidFill>
          <a:ln w="12700">
            <a:solidFill>
              <a:srgbClr val="DDE4EA"/>
            </a:solidFill>
            <a:prstDash val="solid"/>
          </a:ln>
          <a:effectLst>
            <a:outerShdw blurRad="114300" dist="25400" dir="5400000" algn="bl" rotWithShape="0">
              <a:srgbClr val="0F1C2A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8463077" y="4507992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 txBox="1"/>
          <p:nvPr/>
        </p:nvSpPr>
        <p:spPr>
          <a:xfrm>
            <a:off x="8463077" y="4873752"/>
            <a:ext cx="27227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multi-action command integration.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11002975" y="640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kern="0" spc="-40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the Physical World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8899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Induction completed at the Factory of the Future (FOF) lab</a:t>
            </a:r>
            <a:endParaRPr lang="en-US" sz="1550" dirty="0"/>
          </a:p>
        </p:txBody>
      </p:sp>
      <p:pic>
        <p:nvPicPr>
          <p:cNvPr id="4" name="Image 0" descr="img/fof_bins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783080"/>
            <a:ext cx="2549576" cy="2514600"/>
          </a:xfrm>
          <a:prstGeom prst="rect">
            <a:avLst/>
          </a:prstGeom>
          <a:effectLst>
            <a:outerShdw blurRad="127000" dist="25400" dir="5400000" algn="bl" rotWithShape="0">
              <a:srgbClr val="0F1C2A">
                <a:alpha val="14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640080" y="4407408"/>
            <a:ext cx="2549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bins and overhead sensors</a:t>
            </a:r>
            <a:endParaRPr lang="en-US" sz="1200" dirty="0"/>
          </a:p>
        </p:txBody>
      </p:sp>
      <p:pic>
        <p:nvPicPr>
          <p:cNvPr id="6" name="Image 1" descr="img/fof_trays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27400" y="1783080"/>
            <a:ext cx="2549576" cy="2514600"/>
          </a:xfrm>
          <a:prstGeom prst="rect">
            <a:avLst/>
          </a:prstGeom>
          <a:effectLst>
            <a:outerShdw blurRad="127000" dist="25400" dir="5400000" algn="bl" rotWithShape="0">
              <a:srgbClr val="0F1C2A">
                <a:alpha val="14000"/>
              </a:srgbClr>
            </a:outerShdw>
          </a:effectLst>
        </p:spPr>
      </p:pic>
      <p:sp>
        <p:nvSpPr>
          <p:cNvPr id="7" name="Text 3"/>
          <p:cNvSpPr txBox="1"/>
          <p:nvPr/>
        </p:nvSpPr>
        <p:spPr>
          <a:xfrm>
            <a:off x="3427400" y="4407408"/>
            <a:ext cx="2549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trays and part fixtures</a:t>
            </a:r>
            <a:endParaRPr lang="en-US" sz="1200" dirty="0"/>
          </a:p>
        </p:txBody>
      </p:sp>
      <p:pic>
        <p:nvPicPr>
          <p:cNvPr id="8" name="Image 2" descr="img/fof_fixtures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14720" y="1783080"/>
            <a:ext cx="2549576" cy="2514600"/>
          </a:xfrm>
          <a:prstGeom prst="rect">
            <a:avLst/>
          </a:prstGeom>
          <a:effectLst>
            <a:outerShdw blurRad="127000" dist="25400" dir="5400000" algn="bl" rotWithShape="0">
              <a:srgbClr val="0F1C2A">
                <a:alpha val="14000"/>
              </a:srgbClr>
            </a:outerShdw>
          </a:effectLst>
        </p:spPr>
      </p:pic>
      <p:sp>
        <p:nvSpPr>
          <p:cNvPr id="9" name="Text 4"/>
          <p:cNvSpPr txBox="1"/>
          <p:nvPr/>
        </p:nvSpPr>
        <p:spPr>
          <a:xfrm>
            <a:off x="6214720" y="4407408"/>
            <a:ext cx="2549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pick fixtures</a:t>
            </a:r>
            <a:endParaRPr lang="en-US" sz="1200" dirty="0"/>
          </a:p>
        </p:txBody>
      </p:sp>
      <p:pic>
        <p:nvPicPr>
          <p:cNvPr id="10" name="Image 3" descr="img/fof_robot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002039" y="1783080"/>
            <a:ext cx="2549576" cy="2514600"/>
          </a:xfrm>
          <a:prstGeom prst="rect">
            <a:avLst/>
          </a:prstGeom>
          <a:effectLst>
            <a:outerShdw blurRad="127000" dist="25400" dir="5400000" algn="bl" rotWithShape="0">
              <a:srgbClr val="0F1C2A">
                <a:alpha val="14000"/>
              </a:srgbClr>
            </a:outerShdw>
          </a:effectLst>
        </p:spPr>
      </p:pic>
      <p:sp>
        <p:nvSpPr>
          <p:cNvPr id="11" name="Text 5"/>
          <p:cNvSpPr txBox="1"/>
          <p:nvPr/>
        </p:nvSpPr>
        <p:spPr>
          <a:xfrm>
            <a:off x="9002039" y="4407408"/>
            <a:ext cx="2549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UR robot arm</a:t>
            </a:r>
            <a:endParaRPr lang="en-US" sz="1200" dirty="0"/>
          </a:p>
        </p:txBody>
      </p:sp>
      <p:sp>
        <p:nvSpPr>
          <p:cNvPr id="12" name="Shape 6"/>
          <p:cNvSpPr/>
          <p:nvPr/>
        </p:nvSpPr>
        <p:spPr>
          <a:xfrm>
            <a:off x="640080" y="4983480"/>
            <a:ext cx="5318608" cy="1234440"/>
          </a:xfrm>
          <a:prstGeom prst="roundRect">
            <a:avLst>
              <a:gd name="adj" fmla="val 7407"/>
            </a:avLst>
          </a:prstGeom>
          <a:solidFill>
            <a:srgbClr val="F1F5F8"/>
          </a:solidFill>
          <a:ln w="12700">
            <a:solidFill>
              <a:srgbClr val="DDE4E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7"/>
          <p:cNvSpPr/>
          <p:nvPr/>
        </p:nvSpPr>
        <p:spPr>
          <a:xfrm>
            <a:off x="1005840" y="5276088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8"/>
          <p:cNvSpPr txBox="1"/>
          <p:nvPr/>
        </p:nvSpPr>
        <p:spPr>
          <a:xfrm>
            <a:off x="1261872" y="5202936"/>
            <a:ext cx="431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Robot, controller and workspace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1005840" y="5568696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to the physical arm, its controller and the assembly cell we will deploy into.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6233008" y="4983480"/>
            <a:ext cx="5318608" cy="1234440"/>
          </a:xfrm>
          <a:prstGeom prst="roundRect">
            <a:avLst>
              <a:gd name="adj" fmla="val 7407"/>
            </a:avLst>
          </a:prstGeom>
          <a:solidFill>
            <a:srgbClr val="F1F5F8"/>
          </a:solidFill>
          <a:ln w="12700">
            <a:solidFill>
              <a:srgbClr val="DDE4E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1"/>
          <p:cNvSpPr/>
          <p:nvPr/>
        </p:nvSpPr>
        <p:spPr>
          <a:xfrm>
            <a:off x="6598768" y="5276088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2"/>
          <p:cNvSpPr txBox="1"/>
          <p:nvPr/>
        </p:nvSpPr>
        <p:spPr>
          <a:xfrm>
            <a:off x="6854800" y="5202936"/>
            <a:ext cx="431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workspace, not a simulated one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6598768" y="5568696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bins, component trays and printed fixtures replace the simulated blocks and trays.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11002975" y="640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kern="0" spc="-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72768"/>
            <a:ext cx="3466490" cy="1783080"/>
          </a:xfrm>
          <a:prstGeom prst="roundRect">
            <a:avLst>
              <a:gd name="adj" fmla="val 5128"/>
            </a:avLst>
          </a:prstGeom>
          <a:solidFill>
            <a:srgbClr val="17293A"/>
          </a:solidFill>
          <a:ln w="12700">
            <a:solidFill>
              <a:srgbClr val="22384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987552" y="1847088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987552" y="1847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2249424"/>
            <a:ext cx="27715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cameras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2633472"/>
            <a:ext cx="277154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A9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and calibrate real cameras over the FOF workspace.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62602" y="1572768"/>
            <a:ext cx="3466490" cy="1783080"/>
          </a:xfrm>
          <a:prstGeom prst="roundRect">
            <a:avLst>
              <a:gd name="adj" fmla="val 5128"/>
            </a:avLst>
          </a:prstGeom>
          <a:solidFill>
            <a:srgbClr val="17293A"/>
          </a:solidFill>
          <a:ln w="12700">
            <a:solidFill>
              <a:srgbClr val="22384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4710074" y="1847088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 txBox="1"/>
          <p:nvPr/>
        </p:nvSpPr>
        <p:spPr>
          <a:xfrm>
            <a:off x="4710074" y="1847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710074" y="2249424"/>
            <a:ext cx="27715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Re-finetune YOLOv8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710074" y="2633472"/>
            <a:ext cx="277154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A9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on the physical parts, bins and lighting of the real cell.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85125" y="1572768"/>
            <a:ext cx="3466490" cy="1783080"/>
          </a:xfrm>
          <a:prstGeom prst="roundRect">
            <a:avLst>
              <a:gd name="adj" fmla="val 5128"/>
            </a:avLst>
          </a:prstGeom>
          <a:solidFill>
            <a:srgbClr val="17293A"/>
          </a:solidFill>
          <a:ln w="12700">
            <a:solidFill>
              <a:srgbClr val="22384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8432597" y="1847088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 txBox="1"/>
          <p:nvPr/>
        </p:nvSpPr>
        <p:spPr>
          <a:xfrm>
            <a:off x="8432597" y="1847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432597" y="2249424"/>
            <a:ext cx="27715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 detection maths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432597" y="2633472"/>
            <a:ext cx="277154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A9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kinematics and camera-to-robot coordinates currently assume PyBullet.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611880"/>
            <a:ext cx="3466490" cy="1783080"/>
          </a:xfrm>
          <a:prstGeom prst="roundRect">
            <a:avLst>
              <a:gd name="adj" fmla="val 5128"/>
            </a:avLst>
          </a:prstGeom>
          <a:solidFill>
            <a:srgbClr val="17293A"/>
          </a:solidFill>
          <a:ln w="12700">
            <a:solidFill>
              <a:srgbClr val="22384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987552" y="3886200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 txBox="1"/>
          <p:nvPr/>
        </p:nvSpPr>
        <p:spPr>
          <a:xfrm>
            <a:off x="987552" y="3886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87552" y="4288536"/>
            <a:ext cx="27715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 robot controller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987552" y="4672584"/>
            <a:ext cx="277154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A9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the real arm through the robot controller, reached over TCP via the PLC.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62602" y="3611880"/>
            <a:ext cx="3466490" cy="1783080"/>
          </a:xfrm>
          <a:prstGeom prst="roundRect">
            <a:avLst>
              <a:gd name="adj" fmla="val 5128"/>
            </a:avLst>
          </a:prstGeom>
          <a:solidFill>
            <a:srgbClr val="17293A"/>
          </a:solidFill>
          <a:ln w="12700">
            <a:solidFill>
              <a:srgbClr val="22384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Shape 22"/>
          <p:cNvSpPr/>
          <p:nvPr/>
        </p:nvSpPr>
        <p:spPr>
          <a:xfrm>
            <a:off x="4710074" y="3886200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 txBox="1"/>
          <p:nvPr/>
        </p:nvSpPr>
        <p:spPr>
          <a:xfrm>
            <a:off x="4710074" y="3886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710074" y="4288536"/>
            <a:ext cx="27715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command execution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4710074" y="4672584"/>
            <a:ext cx="277154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A9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spatial handling against the real workspace geometry.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85125" y="3611880"/>
            <a:ext cx="3466490" cy="1783080"/>
          </a:xfrm>
          <a:prstGeom prst="roundRect">
            <a:avLst>
              <a:gd name="adj" fmla="val 5128"/>
            </a:avLst>
          </a:prstGeom>
          <a:solidFill>
            <a:srgbClr val="17293A"/>
          </a:solidFill>
          <a:ln w="12700">
            <a:solidFill>
              <a:srgbClr val="22384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Shape 27"/>
          <p:cNvSpPr/>
          <p:nvPr/>
        </p:nvSpPr>
        <p:spPr>
          <a:xfrm>
            <a:off x="8432597" y="3886200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E39A2E"/>
          </a:solidFill>
          <a:ln w="12700">
            <a:solidFill>
              <a:srgbClr val="E39A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 txBox="1"/>
          <p:nvPr/>
        </p:nvSpPr>
        <p:spPr>
          <a:xfrm>
            <a:off x="8432597" y="3886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432597" y="4288536"/>
            <a:ext cx="27715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integration and testing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8432597" y="4672584"/>
            <a:ext cx="277154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A9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end-to-end testing on the physical system.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0" y="553212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kern="0" spc="-3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You!!!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1044</Words>
  <Application>Microsoft Office PowerPoint</Application>
  <PresentationFormat>Widescreen</PresentationFormat>
  <Paragraphs>194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P54 — Sprint 5 Review</dc:title>
  <dc:subject>PptxGenJS Presentation</dc:subject>
  <dc:creator>P54 Team</dc:creator>
  <cp:lastModifiedBy>Duong Hoang</cp:lastModifiedBy>
  <cp:revision>3</cp:revision>
  <dcterms:created xsi:type="dcterms:W3CDTF">2026-09-10T06:20:35Z</dcterms:created>
  <dcterms:modified xsi:type="dcterms:W3CDTF">2026-09-10T06:43:31Z</dcterms:modified>
</cp:coreProperties>
</file>